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9" r:id="rId7"/>
    <p:sldId id="265" r:id="rId8"/>
    <p:sldId id="266" r:id="rId9"/>
    <p:sldId id="260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1 angiographie" id="{7B5F251F-9C8D-4D0A-AC24-83A39F49B1C6}">
          <p14:sldIdLst>
            <p14:sldId id="256"/>
            <p14:sldId id="257"/>
            <p14:sldId id="259"/>
            <p14:sldId id="265"/>
            <p14:sldId id="266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BD5C5B"/>
    <a:srgbClr val="91302F"/>
    <a:srgbClr val="B02A25"/>
    <a:srgbClr val="B01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7" dt="2026-10-04T19:35:47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fr-FR" smtClean="0"/>
              <a:t>04/10/2026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Espace réservé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92965"/>
            <a:ext cx="10800000" cy="7056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rgbClr val="33333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slideLayout" Target="../slideLayouts/slideLayout21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9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2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slideLayout" Target="../slideLayouts/slideLayout2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335" y="2073277"/>
            <a:ext cx="4479128" cy="1992483"/>
          </a:xfrm>
          <a:prstGeom prst="rect">
            <a:avLst/>
          </a:prstGeom>
        </p:spPr>
      </p:pic>
      <p:sp>
        <p:nvSpPr>
          <p:cNvPr id="33" name="ZoneTexte 32"/>
          <p:cNvSpPr txBox="1"/>
          <p:nvPr/>
        </p:nvSpPr>
        <p:spPr>
          <a:xfrm>
            <a:off x="1281383" y="4224749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Rayon X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3929391" y="4224749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Produit de contraste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7957235" y="4224749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Tomographie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531" y="2218314"/>
            <a:ext cx="4074432" cy="2037216"/>
          </a:xfrm>
          <a:prstGeom prst="rect">
            <a:avLst/>
          </a:prstGeom>
        </p:spPr>
      </p:pic>
      <p:pic>
        <p:nvPicPr>
          <p:cNvPr id="30" name="Image 29" descr="IDS123 - Place de l'imagerie spectrale en scanner - Bibliothèque des  travaux Mas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508" y="2118010"/>
            <a:ext cx="2444624" cy="199248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68238" y="259308"/>
            <a:ext cx="57320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/>
              <a:t>Angiographie par </a:t>
            </a:r>
            <a:r>
              <a:rPr lang="fr-FR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Rayon</a:t>
            </a:r>
            <a:r>
              <a:rPr lang="fr-FR" sz="2800" b="1" u="sng" dirty="0"/>
              <a:t> X : </a:t>
            </a:r>
          </a:p>
          <a:p>
            <a:r>
              <a:rPr lang="fr-FR" sz="2800" b="1" u="sng" dirty="0"/>
              <a:t>De la physique à l’image</a:t>
            </a:r>
          </a:p>
        </p:txBody>
      </p:sp>
      <p:sp>
        <p:nvSpPr>
          <p:cNvPr id="26" name="Signe Plus 25"/>
          <p:cNvSpPr/>
          <p:nvPr/>
        </p:nvSpPr>
        <p:spPr>
          <a:xfrm>
            <a:off x="3589079" y="2637196"/>
            <a:ext cx="832513" cy="954107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Signe Plus 27"/>
          <p:cNvSpPr/>
          <p:nvPr/>
        </p:nvSpPr>
        <p:spPr>
          <a:xfrm>
            <a:off x="6760266" y="2614831"/>
            <a:ext cx="832513" cy="954107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st égal à 30"/>
          <p:cNvSpPr/>
          <p:nvPr/>
        </p:nvSpPr>
        <p:spPr>
          <a:xfrm>
            <a:off x="10482861" y="2694582"/>
            <a:ext cx="1567218" cy="839337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550" y="0"/>
            <a:ext cx="6858000" cy="6858000"/>
          </a:xfrm>
          <a:prstGeom prst="rect">
            <a:avLst/>
          </a:prstGeom>
        </p:spPr>
      </p:pic>
      <p:sp>
        <p:nvSpPr>
          <p:cNvPr id="32" name="ZoneTexte 31"/>
          <p:cNvSpPr txBox="1"/>
          <p:nvPr/>
        </p:nvSpPr>
        <p:spPr>
          <a:xfrm>
            <a:off x="4369558" y="5844785"/>
            <a:ext cx="3452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Angiographie 2D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81481E-6 L -0.82435 0.0006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22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6" grpId="0"/>
      <p:bldP spid="5" grpId="0"/>
      <p:bldP spid="26" grpId="0" animBg="1"/>
      <p:bldP spid="28" grpId="0" animBg="1"/>
      <p:bldP spid="31" grpId="0" animBg="1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Émission thermoionique — Wikipéd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0104" y="1631903"/>
            <a:ext cx="1896497" cy="1769372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738" y="1175440"/>
            <a:ext cx="5334114" cy="2667057"/>
          </a:xfrm>
          <a:prstGeom prst="rect">
            <a:avLst/>
          </a:prstGeom>
        </p:spPr>
      </p:pic>
      <p:grpSp>
        <p:nvGrpSpPr>
          <p:cNvPr id="19" name="Groupe 18"/>
          <p:cNvGrpSpPr/>
          <p:nvPr/>
        </p:nvGrpSpPr>
        <p:grpSpPr>
          <a:xfrm rot="16200000">
            <a:off x="8223232" y="901783"/>
            <a:ext cx="3467100" cy="3244850"/>
            <a:chOff x="4483100" y="1962150"/>
            <a:chExt cx="3467100" cy="3244850"/>
          </a:xfrm>
        </p:grpSpPr>
        <p:sp>
          <p:nvSpPr>
            <p:cNvPr id="20" name="Rectangle 4"/>
            <p:cNvSpPr/>
            <p:nvPr/>
          </p:nvSpPr>
          <p:spPr>
            <a:xfrm>
              <a:off x="5060950" y="3739356"/>
              <a:ext cx="2889250" cy="1066800"/>
            </a:xfrm>
            <a:prstGeom prst="rect">
              <a:avLst/>
            </a:prstGeom>
            <a:gradFill>
              <a:gsLst>
                <a:gs pos="0">
                  <a:schemeClr val="bg2">
                    <a:lumMod val="75000"/>
                  </a:schemeClr>
                </a:gs>
                <a:gs pos="50000">
                  <a:schemeClr val="bg2">
                    <a:lumMod val="60000"/>
                    <a:lumOff val="40000"/>
                  </a:schemeClr>
                </a:gs>
                <a:gs pos="100000">
                  <a:schemeClr val="bg2">
                    <a:lumMod val="20000"/>
                    <a:lumOff val="80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i="1" dirty="0">
                  <a:solidFill>
                    <a:schemeClr val="accent3"/>
                  </a:solidFill>
                  <a:sym typeface="Symbol" panose="05050102010706020507"/>
                </a:rPr>
                <a:t></a:t>
              </a:r>
              <a:r>
                <a:rPr lang="fr-FR" sz="2400" dirty="0">
                  <a:solidFill>
                    <a:schemeClr val="accent3"/>
                  </a:solidFill>
                  <a:sym typeface="Symbol" panose="05050102010706020507"/>
                </a:rPr>
                <a:t>(</a:t>
              </a:r>
              <a:r>
                <a:rPr lang="fr-FR" sz="2400" i="1" dirty="0">
                  <a:solidFill>
                    <a:schemeClr val="accent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rPr>
                <a:t>z</a:t>
              </a:r>
              <a:r>
                <a:rPr lang="fr-FR" sz="2400" dirty="0">
                  <a:solidFill>
                    <a:schemeClr val="accent3"/>
                  </a:solidFill>
                  <a:sym typeface="Symbol" panose="05050102010706020507"/>
                </a:rPr>
                <a:t>)</a:t>
              </a:r>
              <a:endParaRPr lang="fr-FR" sz="2400" dirty="0">
                <a:solidFill>
                  <a:schemeClr val="accent3"/>
                </a:solidFill>
              </a:endParaRPr>
            </a:p>
          </p:txBody>
        </p:sp>
        <p:grpSp>
          <p:nvGrpSpPr>
            <p:cNvPr id="21" name="Groupe 20"/>
            <p:cNvGrpSpPr/>
            <p:nvPr/>
          </p:nvGrpSpPr>
          <p:grpSpPr>
            <a:xfrm>
              <a:off x="4483100" y="3562350"/>
              <a:ext cx="410700" cy="1644650"/>
              <a:chOff x="4483100" y="3562350"/>
              <a:chExt cx="410700" cy="1644650"/>
            </a:xfrm>
          </p:grpSpPr>
          <p:cxnSp>
            <p:nvCxnSpPr>
              <p:cNvPr id="27" name="Connecteur droit avec flèche 7"/>
              <p:cNvCxnSpPr/>
              <p:nvPr/>
            </p:nvCxnSpPr>
            <p:spPr>
              <a:xfrm rot="5400000">
                <a:off x="4171752" y="4405908"/>
                <a:ext cx="1333500" cy="1985"/>
              </a:xfrm>
              <a:prstGeom prst="straightConnector1">
                <a:avLst/>
              </a:prstGeom>
              <a:ln w="25400">
                <a:solidFill>
                  <a:schemeClr val="accent2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ZoneTexte 8"/>
              <p:cNvSpPr txBox="1"/>
              <p:nvPr/>
            </p:nvSpPr>
            <p:spPr>
              <a:xfrm>
                <a:off x="4483100" y="4615418"/>
                <a:ext cx="357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29" name="ZoneTexte 8"/>
              <p:cNvSpPr txBox="1"/>
              <p:nvPr/>
            </p:nvSpPr>
            <p:spPr>
              <a:xfrm>
                <a:off x="4483100" y="356235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0" name="ZoneTexte 8"/>
              <p:cNvSpPr txBox="1"/>
              <p:nvPr/>
            </p:nvSpPr>
            <p:spPr>
              <a:xfrm>
                <a:off x="4519815" y="4837668"/>
                <a:ext cx="2744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</p:txBody>
          </p:sp>
          <p:cxnSp>
            <p:nvCxnSpPr>
              <p:cNvPr id="31" name="Connecteur droit 30"/>
              <p:cNvCxnSpPr/>
              <p:nvPr/>
            </p:nvCxnSpPr>
            <p:spPr>
              <a:xfrm>
                <a:off x="4749800" y="3740150"/>
                <a:ext cx="144000" cy="1588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eur droit 31"/>
              <p:cNvCxnSpPr/>
              <p:nvPr/>
            </p:nvCxnSpPr>
            <p:spPr>
              <a:xfrm>
                <a:off x="4749800" y="4805362"/>
                <a:ext cx="144000" cy="1588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e 21"/>
            <p:cNvGrpSpPr/>
            <p:nvPr/>
          </p:nvGrpSpPr>
          <p:grpSpPr>
            <a:xfrm>
              <a:off x="5994400" y="1962150"/>
              <a:ext cx="1066800" cy="1747282"/>
              <a:chOff x="5994400" y="1962150"/>
              <a:chExt cx="1066800" cy="1747282"/>
            </a:xfrm>
          </p:grpSpPr>
          <p:cxnSp>
            <p:nvCxnSpPr>
              <p:cNvPr id="23" name="Connecteur droit 22"/>
              <p:cNvCxnSpPr/>
              <p:nvPr/>
            </p:nvCxnSpPr>
            <p:spPr>
              <a:xfrm rot="5400000">
                <a:off x="5550297" y="2717403"/>
                <a:ext cx="1421606" cy="533400"/>
              </a:xfrm>
              <a:prstGeom prst="line">
                <a:avLst/>
              </a:prstGeom>
              <a:ln w="190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eur droit 23"/>
              <p:cNvCxnSpPr/>
              <p:nvPr/>
            </p:nvCxnSpPr>
            <p:spPr>
              <a:xfrm rot="16200000" flipH="1">
                <a:off x="6083697" y="2717403"/>
                <a:ext cx="1421606" cy="533400"/>
              </a:xfrm>
              <a:prstGeom prst="line">
                <a:avLst/>
              </a:prstGeom>
              <a:ln w="190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ZoneTexte 24"/>
              <p:cNvSpPr txBox="1"/>
              <p:nvPr/>
            </p:nvSpPr>
            <p:spPr>
              <a:xfrm>
                <a:off x="6361068" y="196215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26" name="ZoneTexte 8"/>
              <p:cNvSpPr txBox="1"/>
              <p:nvPr/>
            </p:nvSpPr>
            <p:spPr>
              <a:xfrm>
                <a:off x="6350000" y="3340100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</p:grpSp>
      <p:sp>
        <p:nvSpPr>
          <p:cNvPr id="33" name="ZoneTexte 32"/>
          <p:cNvSpPr txBox="1"/>
          <p:nvPr/>
        </p:nvSpPr>
        <p:spPr>
          <a:xfrm>
            <a:off x="0" y="214378"/>
            <a:ext cx="7489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La physique : </a:t>
            </a:r>
          </a:p>
          <a:p>
            <a:r>
              <a:rPr lang="fr-FR" sz="2400" b="1" dirty="0"/>
              <a:t>de la génération des rayons X à leurs absorptions</a:t>
            </a:r>
          </a:p>
        </p:txBody>
      </p:sp>
      <p:grpSp>
        <p:nvGrpSpPr>
          <p:cNvPr id="44" name="Groupe 43"/>
          <p:cNvGrpSpPr/>
          <p:nvPr/>
        </p:nvGrpSpPr>
        <p:grpSpPr>
          <a:xfrm>
            <a:off x="518160" y="4069080"/>
            <a:ext cx="11061048" cy="678180"/>
            <a:chOff x="518160" y="5120640"/>
            <a:chExt cx="11061048" cy="678180"/>
          </a:xfrm>
        </p:grpSpPr>
        <p:grpSp>
          <p:nvGrpSpPr>
            <p:cNvPr id="43" name="Groupe 42"/>
            <p:cNvGrpSpPr/>
            <p:nvPr/>
          </p:nvGrpSpPr>
          <p:grpSpPr>
            <a:xfrm>
              <a:off x="518160" y="5120640"/>
              <a:ext cx="11061048" cy="678180"/>
              <a:chOff x="518160" y="5120640"/>
              <a:chExt cx="11061048" cy="678180"/>
            </a:xfrm>
          </p:grpSpPr>
          <p:grpSp>
            <p:nvGrpSpPr>
              <p:cNvPr id="42" name="Groupe 41"/>
              <p:cNvGrpSpPr/>
              <p:nvPr/>
            </p:nvGrpSpPr>
            <p:grpSpPr>
              <a:xfrm>
                <a:off x="518160" y="5120640"/>
                <a:ext cx="11061048" cy="678180"/>
                <a:chOff x="518160" y="5120640"/>
                <a:chExt cx="11061048" cy="678180"/>
              </a:xfrm>
            </p:grpSpPr>
            <p:sp>
              <p:nvSpPr>
                <p:cNvPr id="34" name="Flèche : droite 33"/>
                <p:cNvSpPr/>
                <p:nvPr/>
              </p:nvSpPr>
              <p:spPr>
                <a:xfrm>
                  <a:off x="518160" y="5303520"/>
                  <a:ext cx="11061048" cy="33198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5295900" y="5120640"/>
                  <a:ext cx="220980" cy="6781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7" name="Rectangle 36"/>
              <p:cNvSpPr/>
              <p:nvPr/>
            </p:nvSpPr>
            <p:spPr>
              <a:xfrm>
                <a:off x="777240" y="5120640"/>
                <a:ext cx="220980" cy="6781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1" name="Rectangle 40"/>
            <p:cNvSpPr/>
            <p:nvPr/>
          </p:nvSpPr>
          <p:spPr>
            <a:xfrm>
              <a:off x="10469880" y="5120640"/>
              <a:ext cx="220980" cy="6781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5" name="ZoneTexte 44"/>
          <p:cNvSpPr txBox="1"/>
          <p:nvPr/>
        </p:nvSpPr>
        <p:spPr>
          <a:xfrm>
            <a:off x="183666" y="4892477"/>
            <a:ext cx="33762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Chauffage d’un </a:t>
            </a:r>
          </a:p>
          <a:p>
            <a:r>
              <a:rPr lang="fr-FR" dirty="0"/>
              <a:t>filament de tungstène </a:t>
            </a:r>
          </a:p>
          <a:p>
            <a:pPr algn="ctr"/>
            <a:r>
              <a:rPr lang="fr-FR" dirty="0"/>
              <a:t>+</a:t>
            </a:r>
          </a:p>
          <a:p>
            <a:r>
              <a:rPr lang="fr-FR" dirty="0"/>
              <a:t>Courant avec tension élevé </a:t>
            </a:r>
          </a:p>
          <a:p>
            <a:r>
              <a:rPr lang="fr-FR" dirty="0"/>
              <a:t>(70kV en moyenne)</a:t>
            </a:r>
          </a:p>
          <a:p>
            <a:endParaRPr lang="fr-FR" dirty="0"/>
          </a:p>
        </p:txBody>
      </p:sp>
      <p:sp>
        <p:nvSpPr>
          <p:cNvPr id="46" name="ZoneTexte 45"/>
          <p:cNvSpPr txBox="1"/>
          <p:nvPr/>
        </p:nvSpPr>
        <p:spPr>
          <a:xfrm>
            <a:off x="4583771" y="5370083"/>
            <a:ext cx="1866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Collision sur </a:t>
            </a:r>
          </a:p>
          <a:p>
            <a:r>
              <a:rPr lang="fr-FR" dirty="0"/>
              <a:t>anode rotative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9750407" y="5144012"/>
            <a:ext cx="2067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Absorption </a:t>
            </a:r>
          </a:p>
          <a:p>
            <a:r>
              <a:rPr lang="fr-FR" dirty="0"/>
              <a:t>et Atténuation </a:t>
            </a:r>
          </a:p>
          <a:p>
            <a:r>
              <a:rPr lang="fr-FR" dirty="0"/>
              <a:t>par les tissus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733" y="738232"/>
            <a:ext cx="8914114" cy="512348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1760220"/>
            <a:ext cx="5013960" cy="3760470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21920" y="289560"/>
            <a:ext cx="2640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L’acquisition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015836" y="2216726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Tube à rayon X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240256" y="4869873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Détecteurs</a:t>
            </a:r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3068782" y="2586058"/>
            <a:ext cx="0" cy="2956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2888674" y="4657314"/>
            <a:ext cx="0" cy="2956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9268691" y="5861717"/>
            <a:ext cx="17844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Généré par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482DD5-D871-9D20-D5B4-06D354FE20A2}"/>
              </a:ext>
            </a:extLst>
          </p:cNvPr>
          <p:cNvSpPr/>
          <p:nvPr/>
        </p:nvSpPr>
        <p:spPr>
          <a:xfrm>
            <a:off x="119417" y="170597"/>
            <a:ext cx="11953164" cy="651680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4A4D29-9D5A-E242-318A-5600043AF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22" y="305734"/>
            <a:ext cx="11720016" cy="625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6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C7589-7905-A964-AE71-6AD6F4969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0B5CA3-8CC8-E8B4-9EC4-0506427C5480}"/>
              </a:ext>
            </a:extLst>
          </p:cNvPr>
          <p:cNvSpPr/>
          <p:nvPr/>
        </p:nvSpPr>
        <p:spPr>
          <a:xfrm>
            <a:off x="119417" y="170597"/>
            <a:ext cx="11953164" cy="651680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22E76C-45A1-9406-E28E-24EDC4B1E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23" y="285671"/>
            <a:ext cx="13198520" cy="626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5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2"/>
          <p:cNvSpPr/>
          <p:nvPr>
            <p:custDataLst>
              <p:tags r:id="rId2"/>
            </p:custDataLst>
          </p:nvPr>
        </p:nvSpPr>
        <p:spPr>
          <a:xfrm>
            <a:off x="696595" y="3442970"/>
            <a:ext cx="5102225" cy="1743075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001395" y="3442970"/>
            <a:ext cx="4493260" cy="21907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en-US" sz="1600" b="1" dirty="0">
                <a:solidFill>
                  <a:schemeClr val="tx2">
                    <a:lumMod val="76000"/>
                  </a:schemeClr>
                </a:solidFill>
                <a:latin typeface="+mn-lt"/>
              </a:rPr>
              <a:t>Derniere étape :</a:t>
            </a:r>
            <a:endParaRPr lang="en-US" altLang="fr-FR" sz="1600" b="1">
              <a:solidFill>
                <a:schemeClr val="tx2">
                  <a:lumMod val="76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</a:t>
            </a: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</a:t>
            </a:r>
            <a:r>
              <a:rPr lang="en-US" alt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le pipeline final de reconstruction 3D</a:t>
            </a:r>
            <a:r>
              <a:rPr lang="en-US" alt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.</a:t>
            </a:r>
          </a:p>
        </p:txBody>
      </p:sp>
      <p:sp>
        <p:nvSpPr>
          <p:cNvPr id="60" name="圆角矩形 59"/>
          <p:cNvSpPr/>
          <p:nvPr>
            <p:custDataLst>
              <p:tags r:id="rId4"/>
            </p:custDataLst>
          </p:nvPr>
        </p:nvSpPr>
        <p:spPr>
          <a:xfrm>
            <a:off x="696595" y="2268855"/>
            <a:ext cx="793750" cy="77787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+mn-lt"/>
                <a:sym typeface="+mn-lt"/>
              </a:rPr>
              <a:t>01</a:t>
            </a:r>
            <a:endParaRPr lang="en-US" sz="2400" b="1" dirty="0">
              <a:latin typeface="+mn-ea"/>
              <a:sym typeface="+mn-ea"/>
            </a:endParaRPr>
          </a:p>
        </p:txBody>
      </p:sp>
      <p:cxnSp>
        <p:nvCxnSpPr>
          <p:cNvPr id="80" name="直接连接符 79"/>
          <p:cNvCxnSpPr/>
          <p:nvPr>
            <p:custDataLst>
              <p:tags r:id="rId5"/>
            </p:custDataLst>
          </p:nvPr>
        </p:nvCxnSpPr>
        <p:spPr>
          <a:xfrm flipV="1">
            <a:off x="916305" y="3244850"/>
            <a:ext cx="4662805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: 圆角 2"/>
          <p:cNvSpPr/>
          <p:nvPr>
            <p:custDataLst>
              <p:tags r:id="rId6"/>
            </p:custDataLst>
          </p:nvPr>
        </p:nvSpPr>
        <p:spPr>
          <a:xfrm>
            <a:off x="6321425" y="3244850"/>
            <a:ext cx="5102225" cy="257683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6698615" y="3448050"/>
            <a:ext cx="4493260" cy="16109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en-US" sz="1600" b="1" dirty="0">
                <a:solidFill>
                  <a:schemeClr val="tx2">
                    <a:lumMod val="76000"/>
                  </a:schemeClr>
                </a:solidFill>
                <a:latin typeface="+mn-lt"/>
              </a:rPr>
              <a:t>Mondre Carrés :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fr-FR" sz="1600" b="1" dirty="0">
                <a:gradFill>
                  <a:gsLst>
                    <a:gs pos="0">
                      <a:prstClr val="white">
                        <a:lumMod val="25000"/>
                        <a:lumOff val="75000"/>
                      </a:prstClr>
                    </a:gs>
                    <a:gs pos="50000">
                      <a:prstClr val="white"/>
                    </a:gs>
                    <a:gs pos="100000">
                      <a:prstClr val="white">
                        <a:lumMod val="85000"/>
                      </a:prstClr>
                    </a:gs>
                  </a:gsLst>
                  <a:lin ang="54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Minimisation de la norme L2 de l'erreur de reprojection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fr-FR" altLang="en-US" sz="16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fr-FR" altLang="en-US" sz="1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0" name="圆角矩形 39"/>
          <p:cNvSpPr/>
          <p:nvPr>
            <p:custDataLst>
              <p:tags r:id="rId8"/>
            </p:custDataLst>
          </p:nvPr>
        </p:nvSpPr>
        <p:spPr>
          <a:xfrm>
            <a:off x="6321425" y="2275205"/>
            <a:ext cx="793750" cy="77787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+mn-lt"/>
                <a:sym typeface="+mn-lt"/>
              </a:rPr>
              <a:t>02</a:t>
            </a:r>
            <a:endParaRPr lang="en-US" sz="2400" b="1" dirty="0">
              <a:latin typeface="+mn-ea"/>
              <a:sym typeface="+mn-ea"/>
            </a:endParaRPr>
          </a:p>
        </p:txBody>
      </p:sp>
      <p:cxnSp>
        <p:nvCxnSpPr>
          <p:cNvPr id="74" name="直接连接符 73"/>
          <p:cNvCxnSpPr/>
          <p:nvPr>
            <p:custDataLst>
              <p:tags r:id="rId9"/>
            </p:custDataLst>
          </p:nvPr>
        </p:nvCxnSpPr>
        <p:spPr>
          <a:xfrm flipV="1">
            <a:off x="6614160" y="3250565"/>
            <a:ext cx="4662170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标题 8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fr-FR" altLang="en-US" sz="2400" spc="0" dirty="0"/>
              <a:t>Reconstruction 3D &amp;Optimisation </a:t>
            </a:r>
          </a:p>
        </p:txBody>
      </p:sp>
      <p:sp>
        <p:nvSpPr>
          <p:cNvPr id="3" name="标题 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98910" y="850127"/>
            <a:ext cx="10800000" cy="7056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+mj-cs"/>
                <a:sym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altLang="en-US" b="1" spc="0" dirty="0">
                <a:solidFill>
                  <a:srgbClr val="BD5C5B"/>
                </a:solidFill>
                <a:latin typeface="Arial"/>
                <a:cs typeface="Arial"/>
              </a:rPr>
              <a:t>Bundle Adjustment  </a:t>
            </a:r>
          </a:p>
        </p:txBody>
      </p:sp>
      <p:sp>
        <p:nvSpPr>
          <p:cNvPr id="4" name="标题 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85790" y="1563270"/>
            <a:ext cx="10800000" cy="7056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6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+mj-cs"/>
                <a:sym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Technique d'optimisation pour affiner simultan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é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ment les param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è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tres des cam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é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ras et les coordonn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é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es 3D des points caract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é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ristiques.</a:t>
            </a:r>
            <a:r>
              <a:rPr lang="fr-FR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1835" y="969545"/>
            <a:ext cx="10800000" cy="7056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+mj-cs"/>
                <a:sym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altLang="en-US" b="1" spc="0" dirty="0">
                <a:solidFill>
                  <a:srgbClr val="BD5C5B"/>
                </a:solidFill>
                <a:latin typeface="Arial"/>
                <a:cs typeface="Arial"/>
              </a:rPr>
              <a:t>Concept Mathématique  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1835" y="1588035"/>
            <a:ext cx="10800000" cy="705600"/>
          </a:xfrm>
        </p:spPr>
        <p:txBody>
          <a:bodyPr>
            <a:normAutofit fontScale="90000"/>
          </a:bodyPr>
          <a:lstStyle/>
          <a:p>
            <a:r>
              <a:rPr lang="en-US" altLang="fr-FR"/>
              <a:t>Minimisation de l'</a:t>
            </a:r>
            <a:r>
              <a:rPr lang="en-US" altLang="en-US"/>
              <a:t>é</a:t>
            </a:r>
            <a:r>
              <a:rPr lang="en-US" altLang="fr-FR"/>
              <a:t>cart entre observations 2D et points projet</a:t>
            </a:r>
            <a:r>
              <a:rPr lang="en-US" altLang="en-US"/>
              <a:t>é</a:t>
            </a:r>
            <a:r>
              <a:rPr lang="en-US" altLang="fr-FR"/>
              <a:t>s.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9695" y="2625725"/>
            <a:ext cx="9264650" cy="1607185"/>
          </a:xfrm>
          <a:prstGeom prst="rect">
            <a:avLst/>
          </a:prstGeom>
        </p:spPr>
      </p:pic>
      <p:sp>
        <p:nvSpPr>
          <p:cNvPr id="8" name="Titre 5"/>
          <p:cNvSpPr/>
          <p:nvPr>
            <p:custDataLst>
              <p:tags r:id="rId4"/>
            </p:custDataLst>
          </p:nvPr>
        </p:nvSpPr>
        <p:spPr>
          <a:xfrm>
            <a:off x="5561965" y="5049520"/>
            <a:ext cx="4342130" cy="70548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4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+mj-cs"/>
                <a:sym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altLang="en-US" dirty="0">
                <a:solidFill>
                  <a:srgbClr val="BD5C5B"/>
                </a:solidFill>
                <a:latin typeface="Arial"/>
                <a:cs typeface="Arial"/>
              </a:rPr>
              <a:t>Coefficient binaire :</a:t>
            </a:r>
          </a:p>
          <a:p>
            <a:endParaRPr lang="fr-FR" altLang="en-US" dirty="0">
              <a:solidFill>
                <a:srgbClr val="BD5C5B"/>
              </a:solidFill>
              <a:latin typeface="Arial"/>
              <a:cs typeface="Arial"/>
            </a:endParaRPr>
          </a:p>
          <a:p>
            <a:r>
              <a:rPr lang="en-US" altLang="fr-FR" dirty="0" err="1">
                <a:latin typeface="Arial"/>
                <a:cs typeface="Arial"/>
              </a:rPr>
              <a:t>M_ij</a:t>
            </a:r>
            <a:r>
              <a:rPr lang="en-US" altLang="fr-FR" dirty="0">
                <a:latin typeface="Arial"/>
                <a:cs typeface="Arial"/>
              </a:rPr>
              <a:t> </a:t>
            </a:r>
            <a:r>
              <a:rPr lang="en-US" altLang="fr-FR" dirty="0" err="1">
                <a:latin typeface="Arial"/>
                <a:cs typeface="Arial"/>
              </a:rPr>
              <a:t>indique</a:t>
            </a:r>
            <a:r>
              <a:rPr lang="en-US" altLang="fr-FR" dirty="0">
                <a:latin typeface="Arial"/>
                <a:cs typeface="Arial"/>
              </a:rPr>
              <a:t> la </a:t>
            </a:r>
            <a:r>
              <a:rPr lang="en-US" altLang="fr-FR" dirty="0" err="1">
                <a:latin typeface="Arial"/>
                <a:cs typeface="Arial"/>
              </a:rPr>
              <a:t>visibilit</a:t>
            </a:r>
            <a:r>
              <a:rPr lang="en-US" altLang="en-US" dirty="0" err="1">
                <a:latin typeface="Arial"/>
                <a:cs typeface="Arial"/>
              </a:rPr>
              <a:t>é</a:t>
            </a:r>
            <a:r>
              <a:rPr lang="en-US" altLang="en-US" dirty="0">
                <a:latin typeface="Arial"/>
                <a:cs typeface="Arial"/>
              </a:rPr>
              <a:t> </a:t>
            </a:r>
            <a:r>
              <a:rPr lang="en-US" altLang="fr-FR" dirty="0">
                <a:latin typeface="Arial"/>
                <a:cs typeface="Arial"/>
              </a:rPr>
              <a:t>du point j dans la </a:t>
            </a:r>
            <a:r>
              <a:rPr lang="en-US" altLang="fr-FR" dirty="0" err="1">
                <a:latin typeface="Arial"/>
                <a:cs typeface="Arial"/>
              </a:rPr>
              <a:t>cam</a:t>
            </a:r>
            <a:r>
              <a:rPr lang="en-US" altLang="en-US" dirty="0" err="1">
                <a:latin typeface="Arial"/>
                <a:cs typeface="Arial"/>
              </a:rPr>
              <a:t>é</a:t>
            </a:r>
            <a:r>
              <a:rPr lang="en-US" altLang="fr-FR" dirty="0" err="1">
                <a:latin typeface="Arial"/>
                <a:cs typeface="Arial"/>
              </a:rPr>
              <a:t>ra</a:t>
            </a:r>
            <a:r>
              <a:rPr lang="en-US" altLang="fr-FR" dirty="0">
                <a:latin typeface="Arial"/>
                <a:cs typeface="Arial"/>
              </a:rPr>
              <a:t> </a:t>
            </a:r>
            <a:r>
              <a:rPr lang="en-US" altLang="fr-FR" dirty="0" err="1">
                <a:latin typeface="Arial"/>
                <a:cs typeface="Arial"/>
              </a:rPr>
              <a:t>i</a:t>
            </a:r>
            <a:r>
              <a:rPr lang="en-US" altLang="fr-FR" dirty="0">
                <a:latin typeface="Arial"/>
                <a:cs typeface="Arial"/>
              </a:rPr>
              <a:t>..</a:t>
            </a:r>
            <a:r>
              <a:rPr lang="fr-FR" altLang="en-US" dirty="0">
                <a:latin typeface="Arial"/>
                <a:cs typeface="Arial"/>
              </a:rPr>
              <a:t> </a:t>
            </a:r>
          </a:p>
        </p:txBody>
      </p:sp>
      <p:sp>
        <p:nvSpPr>
          <p:cNvPr id="10" name="Titre 5"/>
          <p:cNvSpPr/>
          <p:nvPr>
            <p:custDataLst>
              <p:tags r:id="rId5"/>
            </p:custDataLst>
          </p:nvPr>
        </p:nvSpPr>
        <p:spPr>
          <a:xfrm>
            <a:off x="519430" y="5049520"/>
            <a:ext cx="4342130" cy="70548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4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+mj-cs"/>
                <a:sym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altLang="en-US" dirty="0">
                <a:solidFill>
                  <a:srgbClr val="BD5C5B"/>
                </a:solidFill>
                <a:latin typeface="Arial"/>
                <a:cs typeface="Arial"/>
              </a:rPr>
              <a:t>points 3D et cameras :</a:t>
            </a:r>
          </a:p>
          <a:p>
            <a:endParaRPr lang="fr-FR" altLang="en-US" dirty="0">
              <a:solidFill>
                <a:srgbClr val="BD5C5B"/>
              </a:solidFill>
              <a:latin typeface="Arial"/>
              <a:cs typeface="Arial"/>
            </a:endParaRPr>
          </a:p>
          <a:p>
            <a:r>
              <a:rPr lang="en-US" altLang="fr-FR" dirty="0">
                <a:latin typeface="Arial"/>
                <a:cs typeface="Arial"/>
              </a:rPr>
              <a:t>Millions de variables et non-</a:t>
            </a:r>
            <a:r>
              <a:rPr lang="en-US" altLang="fr-FR" dirty="0" err="1">
                <a:latin typeface="Arial"/>
                <a:cs typeface="Arial"/>
              </a:rPr>
              <a:t>convexit</a:t>
            </a:r>
            <a:r>
              <a:rPr lang="en-US" altLang="en-US" dirty="0" err="1">
                <a:latin typeface="Arial"/>
                <a:cs typeface="Arial"/>
              </a:rPr>
              <a:t>é</a:t>
            </a:r>
            <a:r>
              <a:rPr lang="en-US" altLang="en-US" dirty="0">
                <a:latin typeface="Arial"/>
                <a:cs typeface="Arial"/>
              </a:rPr>
              <a:t> </a:t>
            </a:r>
            <a:r>
              <a:rPr lang="en-US" altLang="fr-FR" dirty="0">
                <a:latin typeface="Arial"/>
                <a:cs typeface="Arial"/>
              </a:rPr>
              <a:t>du </a:t>
            </a:r>
            <a:r>
              <a:rPr lang="en-US" altLang="fr-FR" dirty="0" err="1">
                <a:latin typeface="Arial"/>
                <a:cs typeface="Arial"/>
              </a:rPr>
              <a:t>probl</a:t>
            </a:r>
            <a:r>
              <a:rPr lang="en-US" altLang="en-US" dirty="0" err="1">
                <a:latin typeface="Arial"/>
                <a:cs typeface="Arial"/>
              </a:rPr>
              <a:t>è</a:t>
            </a:r>
            <a:r>
              <a:rPr lang="en-US" altLang="fr-FR" dirty="0" err="1">
                <a:latin typeface="Arial"/>
                <a:cs typeface="Arial"/>
              </a:rPr>
              <a:t>me</a:t>
            </a:r>
            <a:r>
              <a:rPr lang="en-US" altLang="fr-FR" dirty="0">
                <a:latin typeface="Arial"/>
                <a:cs typeface="Arial"/>
              </a:rPr>
              <a:t>.</a:t>
            </a:r>
            <a:r>
              <a:rPr lang="fr-FR" altLang="en-US" dirty="0">
                <a:latin typeface="Arial"/>
                <a:cs typeface="Arial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2"/>
          <p:cNvSpPr/>
          <p:nvPr>
            <p:custDataLst>
              <p:tags r:id="rId2"/>
            </p:custDataLst>
          </p:nvPr>
        </p:nvSpPr>
        <p:spPr>
          <a:xfrm>
            <a:off x="618490" y="2289810"/>
            <a:ext cx="4116070" cy="115824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001395" y="2268855"/>
            <a:ext cx="3350895" cy="11791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en-US" sz="1600" b="1" dirty="0">
                <a:solidFill>
                  <a:srgbClr val="B2B2B2"/>
                </a:solidFill>
                <a:latin typeface="+mn-lt"/>
              </a:rPr>
              <a:t>Levenberg-Marquardt :</a:t>
            </a:r>
            <a:endParaRPr lang="en-US" altLang="fr-FR" sz="1600" b="1">
              <a:solidFill>
                <a:srgbClr val="B2B2B2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thode d'optimisation it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rative coupl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au compl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 de Schur.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fr-FR" altLang="en-US" sz="2400" b="1" spc="0" dirty="0">
                <a:solidFill>
                  <a:srgbClr val="BD5C5B"/>
                </a:solidFill>
                <a:latin typeface="Arial"/>
                <a:cs typeface="Arial"/>
              </a:rPr>
              <a:t>Resolution et logiciel </a:t>
            </a:r>
          </a:p>
        </p:txBody>
      </p:sp>
      <p:sp>
        <p:nvSpPr>
          <p:cNvPr id="4" name="标题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85790" y="1563270"/>
            <a:ext cx="10800000" cy="7056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+mj-cs"/>
                <a:sym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M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é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thodes it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é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ratives et biblioth</a:t>
            </a:r>
            <a:r>
              <a:rPr lang="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è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ques logicielles de r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é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f</a:t>
            </a:r>
            <a:r>
              <a:rPr lang="en-US" altLang="en-US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é</a:t>
            </a:r>
            <a:r>
              <a:rPr lang="en-US" altLang="fr-FR" spc="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rence</a:t>
            </a:r>
          </a:p>
        </p:txBody>
      </p:sp>
      <p:sp>
        <p:nvSpPr>
          <p:cNvPr id="6" name="矩形: 圆角 2"/>
          <p:cNvSpPr/>
          <p:nvPr>
            <p:custDataLst>
              <p:tags r:id="rId6"/>
            </p:custDataLst>
          </p:nvPr>
        </p:nvSpPr>
        <p:spPr>
          <a:xfrm>
            <a:off x="5778500" y="2289810"/>
            <a:ext cx="4116070" cy="115824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矩形: 圆角 2"/>
          <p:cNvSpPr/>
          <p:nvPr>
            <p:custDataLst>
              <p:tags r:id="rId7"/>
            </p:custDataLst>
          </p:nvPr>
        </p:nvSpPr>
        <p:spPr>
          <a:xfrm>
            <a:off x="462915" y="4459605"/>
            <a:ext cx="4116070" cy="115824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矩形: 圆角 2"/>
          <p:cNvSpPr/>
          <p:nvPr>
            <p:custDataLst>
              <p:tags r:id="rId8"/>
            </p:custDataLst>
          </p:nvPr>
        </p:nvSpPr>
        <p:spPr>
          <a:xfrm>
            <a:off x="5778500" y="4122420"/>
            <a:ext cx="4116070" cy="162179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矩形 4"/>
          <p:cNvSpPr/>
          <p:nvPr>
            <p:custDataLst>
              <p:tags r:id="rId9"/>
            </p:custDataLst>
          </p:nvPr>
        </p:nvSpPr>
        <p:spPr>
          <a:xfrm>
            <a:off x="5989955" y="2268855"/>
            <a:ext cx="3350895" cy="11791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en-US" sz="1600" b="1" dirty="0">
                <a:solidFill>
                  <a:srgbClr val="B2B2B2"/>
                </a:solidFill>
                <a:latin typeface="+mn-lt"/>
              </a:rPr>
              <a:t> Ceres Solver &amp; gO2</a:t>
            </a:r>
            <a:endParaRPr lang="en-US" altLang="fr-FR" sz="1600" b="1">
              <a:solidFill>
                <a:srgbClr val="B2B2B2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Biblioth</a:t>
            </a:r>
            <a:r>
              <a:rPr lang="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 C++ de r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rence pour la r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de graphes..</a:t>
            </a:r>
          </a:p>
        </p:txBody>
      </p:sp>
      <p:sp>
        <p:nvSpPr>
          <p:cNvPr id="15" name="矩形 4"/>
          <p:cNvSpPr/>
          <p:nvPr>
            <p:custDataLst>
              <p:tags r:id="rId10"/>
            </p:custDataLst>
          </p:nvPr>
        </p:nvSpPr>
        <p:spPr>
          <a:xfrm>
            <a:off x="1001395" y="4438650"/>
            <a:ext cx="3350895" cy="11791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en-US" sz="1600" b="1" dirty="0">
                <a:solidFill>
                  <a:srgbClr val="B2B2B2"/>
                </a:solidFill>
                <a:latin typeface="+mn-lt"/>
              </a:rPr>
              <a:t>OpenCv :</a:t>
            </a:r>
            <a:endParaRPr lang="en-US" altLang="fr-FR" sz="1600" b="1">
              <a:solidFill>
                <a:srgbClr val="B2B2B2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Fonctions d'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talonnage et faisceaux clairsem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s/denses.</a:t>
            </a:r>
          </a:p>
        </p:txBody>
      </p:sp>
      <p:sp>
        <p:nvSpPr>
          <p:cNvPr id="19" name="矩形 4"/>
          <p:cNvSpPr/>
          <p:nvPr>
            <p:custDataLst>
              <p:tags r:id="rId11"/>
            </p:custDataLst>
          </p:nvPr>
        </p:nvSpPr>
        <p:spPr>
          <a:xfrm>
            <a:off x="5778500" y="4356735"/>
            <a:ext cx="3350895" cy="11791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en-US" sz="1600" b="1" dirty="0">
                <a:solidFill>
                  <a:srgbClr val="B2B2B2"/>
                </a:solidFill>
                <a:latin typeface="+mn-lt"/>
              </a:rPr>
              <a:t> Colmaap et Bundler </a:t>
            </a:r>
            <a:endParaRPr lang="en-US" altLang="fr-FR" sz="1600" b="1">
              <a:solidFill>
                <a:srgbClr val="B2B2B2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Logiciels de reconstruction 3D et Structure-from-Motion.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973"/>
  <p:tag name="KSO_WM_SLIDE_LAYOUT" val="a_l"/>
  <p:tag name="KSO_WM_SLIDE_LAYOUT_CNT" val="1_1"/>
  <p:tag name="KSO_WM_SPECIAL_SOURCE" val="bdnul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1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54.85,&quot;top&quot;:131.9,&quot;width&quot;:850.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54.85,&quot;top&quot;:131.9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1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54.85,&quot;top&quot;:131.9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1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54.85,&quot;top&quot;:131.9,&quot;width&quot;:850.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1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54.85,&quot;top&quot;:131.9,&quot;width&quot;:850.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1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54.85,&quot;top&quot;:131.9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1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54.85,&quot;top&quot;:131.9,&quot;width&quot;:850.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1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54.85,&quot;top&quot;:131.9,&quot;width&quot;:850.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973"/>
  <p:tag name="KSO_WM_SLIDE_LAYOUT" val="a_l"/>
  <p:tag name="KSO_WM_SLIDE_LAYOUT_CNT" val="1_1"/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973"/>
  <p:tag name="KSO_WM_SLIDE_LAYOUT" val="a_l"/>
  <p:tag name="KSO_WM_SLIDE_LAYOUT_CNT" val="1_1"/>
  <p:tag name="KSO_WM_SPECIAL_SOURCE" val="bdnul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1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48.7,&quot;top&quot;:131.9,&quot;width&quot;:856.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95,&quot;left&quot;:48.7,&quot;top&quot;:131.9,&quot;width&quot;:856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Your title here"/>
  <p:tag name="KSO_WM_UNIT_USESOURCEFORMAT_APPLY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1*l_h_i*1_1_2"/>
  <p:tag name="KSO_WM_TEMPLATE_CATEGORY" val="diagram"/>
  <p:tag name="KSO_WM_TEMPLATE_INDEX" val="20231973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26.95,&quot;left&quot;:48.7,&quot;top&quot;:131.9,&quot;width&quot;:856.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1*l_h_i*1_1_2"/>
  <p:tag name="KSO_WM_TEMPLATE_CATEGORY" val="diagram"/>
  <p:tag name="KSO_WM_TEMPLATE_INDEX" val="20231973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26.95,&quot;left&quot;:48.7,&quot;top&quot;:131.9,&quot;width&quot;:856.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1*l_h_i*1_1_2"/>
  <p:tag name="KSO_WM_TEMPLATE_CATEGORY" val="diagram"/>
  <p:tag name="KSO_WM_TEMPLATE_INDEX" val="20231973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26.95,&quot;left&quot;:48.7,&quot;top&quot;:131.9,&quot;width&quot;:856.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26.95,&quot;left&quot;:48.7,&quot;top&quot;:131.9,&quot;width&quot;:856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26.95,&quot;left&quot;:48.7,&quot;top&quot;:131.9,&quot;width&quot;:856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26.95,&quot;left&quot;:48.7,&quot;top&quot;:131.9,&quot;width&quot;:856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2d1e8d-7538-4aac-ad28-5dd1a609fd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48613B0EBDD049A90B9E13D4FF1516" ma:contentTypeVersion="5" ma:contentTypeDescription="Crée un document." ma:contentTypeScope="" ma:versionID="e90d28265473090014e84d03d21adca0">
  <xsd:schema xmlns:xsd="http://www.w3.org/2001/XMLSchema" xmlns:xs="http://www.w3.org/2001/XMLSchema" xmlns:p="http://schemas.microsoft.com/office/2006/metadata/properties" xmlns:ns3="622d1e8d-7538-4aac-ad28-5dd1a609fd47" targetNamespace="http://schemas.microsoft.com/office/2006/metadata/properties" ma:root="true" ma:fieldsID="e03b8793325f3d1d08de042f1e5c4ebd" ns3:_="">
    <xsd:import namespace="622d1e8d-7538-4aac-ad28-5dd1a609fd4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2d1e8d-7538-4aac-ad28-5dd1a609fd4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A7B63B-2717-4190-824B-0A7A122F3B69}">
  <ds:schemaRefs/>
</ds:datastoreItem>
</file>

<file path=customXml/itemProps2.xml><?xml version="1.0" encoding="utf-8"?>
<ds:datastoreItem xmlns:ds="http://schemas.openxmlformats.org/officeDocument/2006/customXml" ds:itemID="{0CD2BF61-3EA4-4D5F-9724-EF6E86C2E143}">
  <ds:schemaRefs/>
</ds:datastoreItem>
</file>

<file path=customXml/itemProps3.xml><?xml version="1.0" encoding="utf-8"?>
<ds:datastoreItem xmlns:ds="http://schemas.openxmlformats.org/officeDocument/2006/customXml" ds:itemID="{3B2646C5-FB3E-4E8F-BF06-8D1F0C0D082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1327</Words>
  <Application>Microsoft Office PowerPoint</Application>
  <PresentationFormat>Widescreen</PresentationFormat>
  <Paragraphs>92</Paragraphs>
  <Slides>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Reconstruction 3D &amp;Optimisation </vt:lpstr>
      <vt:lpstr>Minimisation de l'écart entre observations 2D et points projetés.</vt:lpstr>
      <vt:lpstr>Resolution et logiciel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Abderahamane BELKACEMI</dc:creator>
  <cp:lastModifiedBy>WPS_1702465027</cp:lastModifiedBy>
  <cp:revision>71</cp:revision>
  <dcterms:created xsi:type="dcterms:W3CDTF">2026-10-03T19:30:00Z</dcterms:created>
  <dcterms:modified xsi:type="dcterms:W3CDTF">2026-10-04T19:41:07Z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0x010100C548613B0EBDD049A90B9E13D4FF1516</vt:lpwstr>
  </property>
  <property fmtid="{D5CDD505-2E9C-101B-9397-08002B2CF9AE}" pid="3" name="KSOProductBuildVer">
    <vt:lpwstr>1036-12.1.0.28485</vt:lpwstr>
  </property>
  <property fmtid="{D5CDD505-2E9C-101B-9397-08002B2CF9AE}" pid="4" name="ICV">
    <vt:lpwstr>DDD66420FA6E45B986116D627FCE8064_13</vt:lpwstr>
  </property>
</Properties>
</file>